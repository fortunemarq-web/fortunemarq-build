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74320"/>
            <a:ext cx="4114800" cy="4114800"/>
          </a:xfrm>
          <a:prstGeom prst="ellipse">
            <a:avLst/>
          </a:prstGeom>
          <a:solidFill>
            <a:srgbClr val="1A2E4A">
              <a:alpha val="7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40080"/>
            <a:ext cx="3383280" cy="3383280"/>
          </a:xfrm>
          <a:prstGeom prst="ellipse">
            <a:avLst/>
          </a:prstGeom>
          <a:solidFill>
            <a:srgbClr val="243855">
              <a:alpha val="60000"/>
            </a:srgbClr>
          </a:solidFill>
          <a:ln w="12700">
            <a:solidFill>
              <a:srgbClr val="42CA8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FortuneMarq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 Status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That Pays You Back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200400" cy="36576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00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 •  Why it's taking time  •  What's next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Sayed Jabeer — Founder, FortuneMarq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155448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— What We're Building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FortuneMarq is not a typical agency. It's a systems-driven, automation-first business machine.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15568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repeatable task is automated. Every lead is in the system. Every client is managed through FMOS. Humans supervise systems — not execute tasks."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9319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36576" cy="10972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Data-First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243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 PDFs, 7,298 leads, 2.15M monthly searches across 9 cities × 14 niches. Every decision backed by real numbers.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39319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240280"/>
            <a:ext cx="36576" cy="10972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Automation-First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62432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delivery, SEO reporting, ad management — all automated. Scale to 50 clients without proportional headcount.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39319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20440"/>
            <a:ext cx="36576" cy="10972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One Operating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904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 — everything lives here. No WhatsApp to manage work. No spreadsheets. One system, one truth.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931920" cy="109728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520440"/>
            <a:ext cx="36576" cy="109728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Volume Model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90448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prices + fast delivery + strong portfolio = volume. Then raise prices as brand grows.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Map — How All 10 Modules Connect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folder is one component of the same machine. Nothing is isolated.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005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Data &amp;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9202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Paid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0" y="28346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2834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Sales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0" y="37490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645920" y="3749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FMOS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03520" y="37490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0" y="3749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2880" y="19202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8288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Online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766560" y="19202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9202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Client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0" y="44348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0" y="4434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Finance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97280" y="44348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97280" y="4434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Legal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4434840"/>
            <a:ext cx="1828800" cy="685800"/>
          </a:xfrm>
          <a:prstGeom prst="rect">
            <a:avLst/>
          </a:prstGeom>
          <a:solidFill>
            <a:srgbClr val="1A2E4A"/>
          </a:solidFill>
          <a:ln w="12700">
            <a:solidFill>
              <a:srgbClr val="C5D5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52160" y="44348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Growth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389120" y="1691640"/>
            <a:ext cx="9144" cy="228600"/>
          </a:xfrm>
          <a:prstGeom prst="line">
            <a:avLst/>
          </a:prstGeom>
          <a:noFill/>
          <a:ln w="12700">
            <a:solidFill>
              <a:srgbClr val="42CA8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389120" y="2606040"/>
            <a:ext cx="9144" cy="228600"/>
          </a:xfrm>
          <a:prstGeom prst="line">
            <a:avLst/>
          </a:prstGeom>
          <a:noFill/>
          <a:ln w="12700">
            <a:solidFill>
              <a:srgbClr val="42CA8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389120" y="3520440"/>
            <a:ext cx="9144" cy="228600"/>
          </a:xfrm>
          <a:prstGeom prst="line">
            <a:avLst/>
          </a:prstGeom>
          <a:noFill/>
          <a:ln w="12700">
            <a:solidFill>
              <a:srgbClr val="42CA8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286000" y="4434840"/>
            <a:ext cx="1188720" cy="9144"/>
          </a:xfrm>
          <a:prstGeom prst="line">
            <a:avLst/>
          </a:prstGeom>
          <a:noFill/>
          <a:ln w="12700">
            <a:solidFill>
              <a:srgbClr val="42CA8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943600" y="4434840"/>
            <a:ext cx="640080" cy="9144"/>
          </a:xfrm>
          <a:prstGeom prst="line">
            <a:avLst/>
          </a:prstGeom>
          <a:noFill/>
          <a:ln w="12700">
            <a:solidFill>
              <a:srgbClr val="42CA8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45720" y="32004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Inbound leads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720840" y="32004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Delivery tasks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Status Dashboard — April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build progress across all 10 modules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347472"/>
          </a:xfrm>
          <a:prstGeom prst="rect">
            <a:avLst/>
          </a:prstGeom>
          <a:solidFill>
            <a:srgbClr val="1A2E4A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960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 CRM (The Operating System)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77640" y="1069848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1069848"/>
            <a:ext cx="1645920" cy="12801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0448" y="9601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55080" y="1024128"/>
            <a:ext cx="1143000" cy="21945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241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543800" y="960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A+B done. Phases C–E pending. Deploy = the bottleneck.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274320" y="1362456"/>
            <a:ext cx="8595360" cy="347472"/>
          </a:xfrm>
          <a:prstGeom prst="rect">
            <a:avLst/>
          </a:prstGeom>
          <a:solidFill>
            <a:srgbClr val="243855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36245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136245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Research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77640" y="1472184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77640" y="1472184"/>
            <a:ext cx="1737360" cy="12801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362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355080" y="1426464"/>
            <a:ext cx="1143000" cy="21945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2646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543800" y="136245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858 Hubli leads live. 7,298 total leads. 75 PDFs. All 9 cities × 14 niches.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74320" y="1764792"/>
            <a:ext cx="8595360" cy="347472"/>
          </a:xfrm>
          <a:prstGeom prst="rect">
            <a:avLst/>
          </a:prstGeom>
          <a:solidFill>
            <a:srgbClr val="1A2E4A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17647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" y="17647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System (Scripts, Templates, Proposals)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77640" y="1874520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77640" y="1874520"/>
            <a:ext cx="1828800" cy="12801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70448" y="17647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55080" y="1828800"/>
            <a:ext cx="1143000" cy="21945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182880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543800" y="176479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L2–L7 all done. Telecaller scripts, WhatsApp templates, proposals, agreements.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274320" y="2167128"/>
            <a:ext cx="8595360" cy="347472"/>
          </a:xfrm>
          <a:prstGeom prst="rect">
            <a:avLst/>
          </a:prstGeom>
          <a:solidFill>
            <a:srgbClr val="243855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16712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" y="21671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Management (Onboarding, Reports, Upsell)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77640" y="2276856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77640" y="2276856"/>
            <a:ext cx="1828800" cy="12801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70448" y="216712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5080" y="2231136"/>
            <a:ext cx="1143000" cy="21945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22311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543800" y="216712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SOPs, health score system, monthly report schema, upsell system.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274320" y="2569464"/>
            <a:ext cx="8595360" cy="347472"/>
          </a:xfrm>
          <a:prstGeom prst="rect">
            <a:avLst/>
          </a:prstGeom>
          <a:solidFill>
            <a:srgbClr val="1A2E4A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25694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" y="25694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Operations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977640" y="2679192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77640" y="2679192"/>
            <a:ext cx="1737360" cy="12801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70448" y="256946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55080" y="2633472"/>
            <a:ext cx="1143000" cy="21945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263347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543800" y="256946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registered, Udyam registered, agreement template, payment policy.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274320" y="2971800"/>
            <a:ext cx="8595360" cy="347472"/>
          </a:xfrm>
          <a:prstGeom prst="rect">
            <a:avLst/>
          </a:prstGeom>
          <a:solidFill>
            <a:srgbClr val="243855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2971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49808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FortuneMarq Online Presence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77640" y="3081528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977640" y="3081528"/>
            <a:ext cx="548640" cy="128016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70448" y="2971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55080" y="3035808"/>
            <a:ext cx="1143000" cy="219456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303580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543800" y="29718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live. GMB created. 11 niche landing pages built. Instagram not started.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74320" y="3374136"/>
            <a:ext cx="8595360" cy="347472"/>
          </a:xfrm>
          <a:prstGeom prst="rect">
            <a:avLst/>
          </a:prstGeom>
          <a:solidFill>
            <a:srgbClr val="1A2E4A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0040" y="3374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49808" y="337413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Delivery Automation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977640" y="3483864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977640" y="3483864"/>
            <a:ext cx="91440" cy="128016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70448" y="3374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355080" y="3438144"/>
            <a:ext cx="1143000" cy="219456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55080" y="34381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543800" y="337413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FMOS deployment. All 3 automation systems not yet started.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74320" y="3776472"/>
            <a:ext cx="8595360" cy="347472"/>
          </a:xfrm>
          <a:prstGeom prst="rect">
            <a:avLst/>
          </a:prstGeom>
          <a:solidFill>
            <a:srgbClr val="243855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20040" y="37764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49808" y="37764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Invoicing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3977640" y="3886200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77640" y="3886200"/>
            <a:ext cx="365760" cy="128016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70448" y="37764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355080" y="3840480"/>
            <a:ext cx="1143000" cy="219456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55080" y="38404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7543800" y="377647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module in FMOS exists. Blocked on FMOS deployment + first client.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274320" y="4178808"/>
            <a:ext cx="8595360" cy="347472"/>
          </a:xfrm>
          <a:prstGeom prst="rect">
            <a:avLst/>
          </a:prstGeom>
          <a:solidFill>
            <a:srgbClr val="1A2E4A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1788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749808" y="41788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Marketing (FortuneMarq's Own Ads)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977640" y="4288536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977640" y="4288536"/>
            <a:ext cx="91440" cy="128016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870448" y="417880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355080" y="4242816"/>
            <a:ext cx="1143000" cy="219456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355080" y="424281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7543800" y="417880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step. Blocked on FMOS + Afifa live + landing pages deployed.</a:t>
            </a:r>
            <a:endParaRPr lang="en-US" sz="650" dirty="0"/>
          </a:p>
        </p:txBody>
      </p:sp>
      <p:sp>
        <p:nvSpPr>
          <p:cNvPr id="88" name="Shape 86"/>
          <p:cNvSpPr/>
          <p:nvPr/>
        </p:nvSpPr>
        <p:spPr>
          <a:xfrm>
            <a:off x="274320" y="4581144"/>
            <a:ext cx="8595360" cy="347472"/>
          </a:xfrm>
          <a:prstGeom prst="rect">
            <a:avLst/>
          </a:prstGeom>
          <a:solidFill>
            <a:srgbClr val="243855">
              <a:alpha val="90000"/>
            </a:srgbClr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45811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49808" y="45811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Growth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3977640" y="4690872"/>
            <a:ext cx="1828800" cy="128016"/>
          </a:xfrm>
          <a:prstGeom prst="rect">
            <a:avLst/>
          </a:prstGeom>
          <a:solidFill>
            <a:srgbClr val="0F1E3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977640" y="4690872"/>
            <a:ext cx="731520" cy="12801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870448" y="45811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6355080" y="4645152"/>
            <a:ext cx="1143000" cy="21945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355080" y="46451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543800" y="458114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— communication, AI, and digital marketing learning active.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— FMOS CRM: The Agency Operating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Next.js 16 + TypeScript + Tailwind v4 + Supabase. Running locally. Deploy is the only remaining step.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402336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WHAT'S BUILT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A — Cleanup + bug fixes (COMPLETE)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6779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Phase B — Role views: Telecaller, Cousin, Admin (COMPLETE)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48640" y="19385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45+ Admin routes: Leads, Finance, Teams, SOPs, Reports, Strategy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21991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Sales Cockpit (/sales) with real search volumes per lead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24597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858 Hubli leads live in Supabase database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48640" y="27203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Bulk-import tool — 1-click for all ~7,181 leads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8640" y="29809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Proposal Generator → Agreement → Onboarding tab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32415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Template Library (17 templates)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3502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Strategy Engine using Claude/OpenRouter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37627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Portal, Staff View, Attendance, Audit Log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864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Finance Dashboard: Revenue, P&amp;L, Invoices, Expenses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42839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TypeScript strict build — ZERO errors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114800" cy="356616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1078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STATUS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444752"/>
            <a:ext cx="3886200" cy="438912"/>
          </a:xfrm>
          <a:prstGeom prst="rect">
            <a:avLst/>
          </a:prstGeom>
          <a:solidFill>
            <a:srgbClr val="243855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444752"/>
            <a:ext cx="36576" cy="43891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4721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— Cleanup &amp; Bug Fixes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16733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removed, auth bugs fixed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635240" y="1545336"/>
            <a:ext cx="960120" cy="20116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35240" y="15453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54880" y="1947672"/>
            <a:ext cx="3886200" cy="438912"/>
          </a:xfrm>
          <a:prstGeom prst="rect">
            <a:avLst/>
          </a:prstGeom>
          <a:solidFill>
            <a:srgbClr val="243855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47672"/>
            <a:ext cx="36576" cy="43891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197510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B — Role Views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21762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Telecaller, Cousin, Admin role-based dashboards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635240" y="2048256"/>
            <a:ext cx="960120" cy="20116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20482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54880" y="2450592"/>
            <a:ext cx="3886200" cy="438912"/>
          </a:xfrm>
          <a:prstGeom prst="rect">
            <a:avLst/>
          </a:prstGeom>
          <a:solidFill>
            <a:srgbClr val="243855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450592"/>
            <a:ext cx="36576" cy="43891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47802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C — Outreach Board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46320" y="26791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10-col Kanban, Lead Profile, PDF Log — build next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635240" y="2551176"/>
            <a:ext cx="960120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35240" y="255117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754880" y="2953512"/>
            <a:ext cx="3886200" cy="438912"/>
          </a:xfrm>
          <a:prstGeom prst="rect">
            <a:avLst/>
          </a:prstGeom>
          <a:solidFill>
            <a:srgbClr val="243855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953512"/>
            <a:ext cx="36576" cy="438912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9809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 — Proposals &amp; Onboarding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46320" y="31821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PDF, Agreement flow, Onboarding Tab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7635240" y="3054096"/>
            <a:ext cx="960120" cy="201168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35240" y="30540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754880" y="3456432"/>
            <a:ext cx="3886200" cy="438912"/>
          </a:xfrm>
          <a:prstGeom prst="rect">
            <a:avLst/>
          </a:prstGeom>
          <a:solidFill>
            <a:srgbClr val="243855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54880" y="3456432"/>
            <a:ext cx="36576" cy="438912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46320" y="34838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E — Finance &amp; Forecast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846320" y="3685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split, Revenue Forecast, Upsell Queue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635240" y="3557016"/>
            <a:ext cx="960120" cy="201168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35570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754880" y="3959352"/>
            <a:ext cx="3886200" cy="438912"/>
          </a:xfrm>
          <a:prstGeom prst="rect">
            <a:avLst/>
          </a:prstGeom>
          <a:solidFill>
            <a:srgbClr val="243855"/>
          </a:solidFill>
          <a:ln w="12700">
            <a:solidFill>
              <a:srgbClr val="E8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754880" y="3959352"/>
            <a:ext cx="36576" cy="438912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39867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fmos.fortunemarq.com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846320" y="41879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phases. Hostinger Business Plan ready.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635240" y="4059936"/>
            <a:ext cx="960120" cy="201168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35240" y="405993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— Data &amp; Research: The Foundation of Everything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sales, all marketing, all content is powered by real data. This was built first — and it's complete.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192024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7,298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(9 cities)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92024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0604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Upload-Ready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 Leads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192024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(Hubli)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903720" y="1005840"/>
            <a:ext cx="192024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07899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2.15M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3720" y="1645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Searches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Cities × 14 Niches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4206240" cy="228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Hubli Leads — 11 Ready CSVs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148840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2935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Clinics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148840" y="2935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3236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Clinics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148840" y="3236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148840" y="3538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Training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148840" y="3840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1422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Designers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48840" y="414223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60604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Tuition Centres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51960" y="26334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606040" y="2935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251960" y="293522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06040" y="32369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JEE/NEET Coaching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251960" y="323697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60604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Kitchens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251960" y="3538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0604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Physiotherapy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51960" y="3840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54880" y="2212848"/>
            <a:ext cx="4023360" cy="228600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9204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Market Intelligence PDFs (4 Types)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2651760"/>
            <a:ext cx="3840480" cy="384048"/>
          </a:xfrm>
          <a:prstGeom prst="rect">
            <a:avLst/>
          </a:prstGeom>
          <a:solidFill>
            <a:srgbClr val="243855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6320" y="2651760"/>
            <a:ext cx="36576" cy="38404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37760" y="267919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1 — Visibility Report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37760" y="285292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ranking on Google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46320" y="3099816"/>
            <a:ext cx="3840480" cy="384048"/>
          </a:xfrm>
          <a:prstGeom prst="rect">
            <a:avLst/>
          </a:prstGeom>
          <a:solidFill>
            <a:srgbClr val="24385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46320" y="3099816"/>
            <a:ext cx="36576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3127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— Market Opportunity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937760" y="33009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website, GMB only leads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46320" y="3547872"/>
            <a:ext cx="3840480" cy="384048"/>
          </a:xfrm>
          <a:prstGeom prst="rect">
            <a:avLst/>
          </a:prstGeom>
          <a:solidFill>
            <a:srgbClr val="243855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46320" y="3547872"/>
            <a:ext cx="36576" cy="38404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575304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3 — Website Performance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37760" y="37490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website, not ranking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46320" y="3995928"/>
            <a:ext cx="3840480" cy="384048"/>
          </a:xfrm>
          <a:prstGeom prst="rect">
            <a:avLst/>
          </a:prstGeom>
          <a:solidFill>
            <a:srgbClr val="243855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46320" y="3995928"/>
            <a:ext cx="36576" cy="384048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37760" y="402336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4 — Niche Market Report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937760" y="419709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search volume niches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03 + 04 — Sales System &amp; Client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sales funnel and client lifecycle has been fully built and documented.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023360" cy="3703320"/>
          </a:xfrm>
          <a:prstGeom prst="rect">
            <a:avLst/>
          </a:prstGeom>
          <a:solidFill>
            <a:srgbClr val="1A2E4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241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SALES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005840"/>
            <a:ext cx="1188720" cy="246888"/>
          </a:xfrm>
          <a:prstGeom prst="rect">
            <a:avLst>
              <a:gd name="adj" fmla="val 14815"/>
            </a:avLst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71800" y="10058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COMPLETE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1389888"/>
            <a:ext cx="384048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389888"/>
            <a:ext cx="411480" cy="56692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8988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32688" y="14264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Telecaller Scripts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32688" y="16367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type-based JSON scripts (A/B/C/D) with 9 outcomes each + objection handling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2029968"/>
            <a:ext cx="384048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029968"/>
            <a:ext cx="411480" cy="56692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2996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32688" y="206654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Templates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32688" y="22768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templates across 5 categories: Curiosity, Bot Reply, Follow-Back, Outcome, Post-Meeting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384048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670048"/>
            <a:ext cx="411480" cy="56692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67004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32688" y="270662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Generator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32688" y="29169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page dynamic PDF from FMOS. Jabeer enters pricing, client data auto-fills.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57200" y="3310128"/>
            <a:ext cx="384048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10128"/>
            <a:ext cx="411480" cy="56692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31012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32688" y="334670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Document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32688" y="35570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 agreement with {{variables}}. Client confirms by WhatsApp reply.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" y="3950208"/>
            <a:ext cx="384048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50208"/>
            <a:ext cx="411480" cy="566928"/>
          </a:xfrm>
          <a:prstGeom prst="rect">
            <a:avLst/>
          </a:prstGeom>
          <a:solidFill>
            <a:srgbClr val="A78BFA">
              <a:alpha val="8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5020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32688" y="39867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SOPs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32688" y="4197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10-step SOP + per-service checklists for all 7 services. Triggers in FMOS.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09160" y="960120"/>
            <a:ext cx="4069080" cy="3703320"/>
          </a:xfrm>
          <a:prstGeom prst="rect">
            <a:avLst/>
          </a:prstGeom>
          <a:solidFill>
            <a:srgbClr val="1A2E4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846320" y="1024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CLIENT MANAGEMENT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1005840"/>
            <a:ext cx="1188720" cy="246888"/>
          </a:xfrm>
          <a:prstGeom prst="rect">
            <a:avLst>
              <a:gd name="adj" fmla="val 14815"/>
            </a:avLst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0" y="100584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COMPLETE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73168" y="1389888"/>
            <a:ext cx="388620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1389888"/>
            <a:ext cx="411480" cy="566928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138988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30368" y="142646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30368" y="163677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checklists for all 7 services. Asset vault: logo, domain, content. TypeScript loader built.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73168" y="2029968"/>
            <a:ext cx="388620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2029968"/>
            <a:ext cx="411480" cy="566928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202996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L6a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30368" y="20665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 Schema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230368" y="22768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8-section report: Rankings, Traffic, Leads, GMB, Work Done, Next Month Plan, Health Score.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73168" y="2670048"/>
            <a:ext cx="388620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73168" y="2670048"/>
            <a:ext cx="411480" cy="566928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73168" y="267004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L6b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230368" y="27066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Health Score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30368" y="291693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4-pillar, 100-point system: Rankings + Traffic + Leads + GMB. Tiers: Excellent/Good/Needs Attention/At Risk.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73168" y="3310128"/>
            <a:ext cx="388620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73168" y="3310128"/>
            <a:ext cx="411480" cy="566928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73168" y="331012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230368" y="334670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System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230368" y="355701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Excellent tier for 2 consecutive months → FMOS flags upsell. Jabeer's call script included.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773168" y="3950208"/>
            <a:ext cx="3886200" cy="566928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73168" y="3950208"/>
            <a:ext cx="411480" cy="566928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73168" y="3950208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230368" y="398678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Tracker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230368" y="41970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alert before contract end. Review health score, Jabeer calls. All in FMOS.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Taking So Long? — The Honest Answer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just building a business. You're building the entire operating infrastructure of an agency from scratch.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1F0E0E"/>
          </a:solidFill>
          <a:ln w="12700">
            <a:solidFill>
              <a:srgbClr val="E8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0584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 The answer is NOT that things are being done slowly. The answer is that what's being built is enormous — and one person is doing it all.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2062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83080"/>
            <a:ext cx="36576" cy="914400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8379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You're Building Infrastructure, Not Just a Business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" y="2103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SaaS-grade CRM (FMOS), a 45+ route application with real auth, a database, a PDF generator, 4 automation systems, scripts, templates, proposals — this is months of senior engineering work. One founder is doing it all.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1783080"/>
            <a:ext cx="42062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783080"/>
            <a:ext cx="36576" cy="914400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83794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Everything Is Interconnected — One Bug Blocks Everything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10328" y="21031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 is the nervous system. If it's not deployed, Afifa can't start calling, leads can't be managed, invoices can't be raised, and all downstream systems can't function. Every module has a dependency chain.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770632"/>
            <a:ext cx="42062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70632"/>
            <a:ext cx="36576" cy="914400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254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Extreme Quality Standard (No Shortcuts Taken)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" y="30906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mode. Role-based auth. Audit logs. Real data wired in (not dummy data). Every template, script, and document written properly. Building it right once takes longer than building it badly twice.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00600" y="2770632"/>
            <a:ext cx="42062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770632"/>
            <a:ext cx="36576" cy="914400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8254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Sole Founder — Zero Outside Help on Tech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0328" y="309067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Jabeer owns 100% of CRM development, automation, strategy, sales, and financial decisions. There is no tech co-founder, no dev team. Claude (AI) is the only assistant. This is genuinely hard.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758184"/>
            <a:ext cx="42062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E8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58184"/>
            <a:ext cx="36576" cy="914400"/>
          </a:xfrm>
          <a:prstGeom prst="rect">
            <a:avLst/>
          </a:prstGeom>
          <a:solidFill>
            <a:srgbClr val="E84444"/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38130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Scope Expands as You Understand More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" y="40782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revealed the next layer. Sales scripts needed WhatsApp templates. Templates needed a bot reply system. Bot replies needed landing pages. Landing pages needed SEO strategy. This is how real systems grow.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3758184"/>
            <a:ext cx="420624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758184"/>
            <a:ext cx="36576" cy="91440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8130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But Look at What's Actually Done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910328" y="40782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858 leads in a working CRM. 7,298 total leads scraped and cleaned. 75 PDFs generated. A full agency operating system built. Complete sales content hierarchy. Legal documents. Health score system. This is exceptional output.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Path — What Unblocks What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 deployment is the single most important next action. Everything else is waiting on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97280"/>
            <a:ext cx="1600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170432"/>
            <a:ext cx="594360" cy="59436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FMOS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C, D, 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1783080"/>
            <a:ext cx="457200" cy="0"/>
          </a:xfrm>
          <a:prstGeom prst="line">
            <a:avLst/>
          </a:prstGeom>
          <a:noFill/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664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2395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Board + Proposal + Finance phases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57400" y="1097280"/>
            <a:ext cx="1600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170432"/>
            <a:ext cx="594360" cy="594360"/>
          </a:xfrm>
          <a:prstGeom prst="ellipse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10312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FMOS 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fmos.fortunemarq.com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1783080"/>
            <a:ext cx="457200" cy="0"/>
          </a:xfrm>
          <a:prstGeom prst="line">
            <a:avLst/>
          </a:prstGeom>
          <a:noFill/>
          <a:ln w="12700">
            <a:solidFill>
              <a:srgbClr val="F583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664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03120" y="2395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Hostinger. Set env vars. Point subdomain.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40480" y="1097280"/>
            <a:ext cx="1600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1170432"/>
            <a:ext cx="594360" cy="5943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Team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Load Leads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40680" y="1783080"/>
            <a:ext cx="457200" cy="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1664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86200" y="2395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Afifa/Zaid/Sufiyan accounts. Bulk import all ~7.2K leads.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623560" y="1097280"/>
            <a:ext cx="1600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170432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66928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Afifa Starts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223760" y="1783080"/>
            <a:ext cx="457200" cy="0"/>
          </a:xfrm>
          <a:prstGeom prst="line">
            <a:avLst/>
          </a:prstGeom>
          <a:noFill/>
          <a:ln w="1270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0" y="16642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69280" y="2395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Hubli call queue in FMOS Sales Cockpit.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406640" y="1097280"/>
            <a:ext cx="16002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09560" y="1170432"/>
            <a:ext cx="594360" cy="594360"/>
          </a:xfrm>
          <a:prstGeom prst="ellipse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09560" y="11704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452360" y="18288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Clients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452360" y="23957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MRR target kicks in.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30175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TRACKS (can start now, no dependency on FMOS)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3346704"/>
            <a:ext cx="20574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3346704"/>
            <a:ext cx="20574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GMB Optimization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57200" y="37490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dependency on FMOS. Start now. Rank for 'digital marketing agency Hubli'.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560320" y="3346704"/>
            <a:ext cx="20574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0" y="3346704"/>
            <a:ext cx="2057400" cy="3657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5176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Content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651760" y="37490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5 posts/week. Niche data reels, behind-the-system content. Build audience now.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3346704"/>
            <a:ext cx="20574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3346704"/>
            <a:ext cx="2057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4632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PDF Fix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46320" y="37490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misspellings in pdf_generator_kn.py. Regenerate 38 KN PDFs for Hubli.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49440" y="3346704"/>
            <a:ext cx="2057400" cy="137160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49440" y="3346704"/>
            <a:ext cx="205740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34290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Dharwad Leads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7040880" y="374904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Dharwad cleaned leads through pipeline. Ready for Phase 2 launch.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Modules — What's Not Started Yet &amp; Why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modules are deliberately sequenced last. Building them now would be premature.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1234440"/>
          </a:xfrm>
          <a:prstGeom prst="rect">
            <a:avLst/>
          </a:prstGeom>
          <a:solidFill>
            <a:srgbClr val="1A2E4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698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FortuneMarq Online Presence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078992"/>
            <a:ext cx="594360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07899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DONE: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5544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Website live on fortunemarq.com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GMB created and verified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 niche landing pages built (HTML ready)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brand images created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0" y="1353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  TODO: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0" y="15544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niche pages to fortunemarq.com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GMB optimization (can start NOW)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Instagram: bio + first 9 posts (can start NOW)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LinkedIn company page setup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SEO content plan for fortunemarq.com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359152"/>
            <a:ext cx="8412480" cy="1234440"/>
          </a:xfrm>
          <a:prstGeom prst="rect">
            <a:avLst/>
          </a:prstGeom>
          <a:solidFill>
            <a:srgbClr val="1A2E4A"/>
          </a:solidFill>
          <a:ln w="12700">
            <a:solidFill>
              <a:srgbClr val="F583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359152"/>
            <a:ext cx="45720" cy="1234440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423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Service Delivery Automation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92440" y="2432304"/>
            <a:ext cx="594360" cy="256032"/>
          </a:xfrm>
          <a:prstGeom prst="rect">
            <a:avLst/>
          </a:prstGeom>
          <a:solidFill>
            <a:srgbClr val="F5832A"/>
          </a:solidFill>
          <a:ln w="12700">
            <a:solidFill>
              <a:srgbClr val="F583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0" y="243230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7066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DONE: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2920" y="290779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architecture planned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automation systems fully designed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phases confirmed (Months 1–8 post-deploy)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0" y="270662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  TODO: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0" y="290779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Website Brief App — Phase 1 (Months 1–2)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Ads Automation Platform — Phase 2 (Months 3–4)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SEO Automation Engine — Phase 3 (Months 5–6)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reporting — Phase 4 (Months 7–8)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8412480" cy="123444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12464"/>
            <a:ext cx="45720" cy="1234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76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Paid Marketing (FortuneMarq Ads)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92440" y="3785616"/>
            <a:ext cx="59436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378561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059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DONE: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26110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campaign plan designed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Niche landing pages created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Budget allocated: ₹20K–₹30K Phase 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4059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8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  TODO: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572000" y="426110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landing pages to domain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 Jabeer's founder video ads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Setup Meta Business Manager ad account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Gyms campaign first → analyze → scale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Plan — 30-Day Action Roadmap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order is locked. Follow the sequence. Do not skip steps.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932688"/>
          </a:xfrm>
          <a:prstGeom prst="rect">
            <a:avLst/>
          </a:prstGeom>
          <a:solidFill>
            <a:srgbClr val="1A2E4A"/>
          </a:solidFill>
          <a:ln w="12700">
            <a:solidFill>
              <a:srgbClr val="E8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1508760" cy="932688"/>
          </a:xfrm>
          <a:prstGeom prst="rect">
            <a:avLst/>
          </a:prstGeom>
          <a:solidFill>
            <a:srgbClr val="E84444">
              <a:alpha val="75000"/>
            </a:srgbClr>
          </a:solidFill>
          <a:ln w="12700">
            <a:solidFill>
              <a:srgbClr val="E8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1508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  (Now)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65960" y="1069848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Build FMOS Phase C — Outreach Board (10-col Kanban + Lead Profile + PDF Log)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FMOS Phase D — Proposal Generator + Agreement Flow + Onboarding Tab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FMOS Phase E — Finance MRR split + Revenue Forecast + Upsell Queue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 FMOS to fmos.fortunemarq.com on Hostinger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Create team accounts: Afifa (telecaller), Zaid, Sufiyan (builders)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8412480" cy="932688"/>
          </a:xfrm>
          <a:prstGeom prst="rect">
            <a:avLst/>
          </a:prstGeom>
          <a:solidFill>
            <a:srgbClr val="1A2E4A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11680"/>
            <a:ext cx="1508760" cy="932688"/>
          </a:xfrm>
          <a:prstGeom prst="rect">
            <a:avLst/>
          </a:prstGeom>
          <a:solidFill>
            <a:srgbClr val="F5C842">
              <a:alpha val="75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11680"/>
            <a:ext cx="1508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2–3  (Post-Deploy)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65960" y="2075688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Activate Afifa — briefing, FMOS login, call queue walk-through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bulk-import — load all ~7,181 leads from Lead_Database into FMOS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Activate GST invoice settings (GSTIN: 29ICWPS9816Q1ZS) in FMOS Finance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Deploy 11 niche landing pages to fortunemarq.com/[niche]-hubli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Trigger WhatsApp curiosity mass send (Type A/B/C/D) to Hubli Gyms leads first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017520"/>
            <a:ext cx="8412480" cy="932688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17520"/>
            <a:ext cx="1508760" cy="932688"/>
          </a:xfrm>
          <a:prstGeom prst="rect">
            <a:avLst/>
          </a:prstGeom>
          <a:solidFill>
            <a:srgbClr val="42CA80">
              <a:alpha val="75000"/>
            </a:srgbClr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17520"/>
            <a:ext cx="1508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  (Momentum)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65960" y="3081528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Afifa working full Hubli call queue daily — logging outcomes in FMOS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Jabeer running 3–5 meetings per week — targeting Gyms + Skin Clinics first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GMB full optimization — categories, service areas, posts, review strategy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Instagram: first 9 posts live. Start niche data reels (2×/week)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First clients signed → Proposals → Agreements → Invoices raised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4023360"/>
            <a:ext cx="8412480" cy="932688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023360"/>
            <a:ext cx="1508760" cy="932688"/>
          </a:xfrm>
          <a:prstGeom prst="rect">
            <a:avLst/>
          </a:prstGeom>
          <a:solidFill>
            <a:srgbClr val="0EA5E9">
              <a:alpha val="7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23360"/>
            <a:ext cx="1508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  (Scale)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5960" y="4087368"/>
            <a:ext cx="6720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building Website Brief App (Phase 1 automation) in FMOS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Dharwad leads finalised + pipeline run — expand to Dharwad calling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Launch Meta Ads campaigns (Gyms → Skin Clinics → Dental) once FMOS is live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Fix Kannada PDFs (38 KN PDFs need regeneration after misspelling fix)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Begin cousin training on Antigravity for first website builds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First niche to attack: GYMS (63,950 searches/month — highest volume, no serious paid competitors)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43855"/>
          </a:solidFill>
          <a:ln w="12700">
            <a:solidFill>
              <a:srgbClr val="243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Targets &amp; Milestones — The 2-Year Journey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365760" cy="36576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MRR: ₹0 (company). Personal freelance: ₹15K–₹20K/month. Monthly burn: ₹15,600–₹16,600.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514600"/>
            <a:ext cx="7863840" cy="0"/>
          </a:xfrm>
          <a:prstGeom prst="line">
            <a:avLst/>
          </a:prstGeom>
          <a:noFill/>
          <a:ln w="12700">
            <a:solidFill>
              <a:srgbClr val="2438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31720"/>
            <a:ext cx="365760" cy="365760"/>
          </a:xfrm>
          <a:prstGeom prst="ellipse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14400"/>
            <a:ext cx="196596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9875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April–May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97280" y="2194560"/>
            <a:ext cx="0" cy="137160"/>
          </a:xfrm>
          <a:prstGeom prst="line">
            <a:avLst/>
          </a:prstGeom>
          <a:noFill/>
          <a:ln w="12700">
            <a:solidFill>
              <a:srgbClr val="42C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43200"/>
            <a:ext cx="19659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" y="2816352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 retainer clients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GMB + Ads + SEO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from Hubli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17520" y="2331720"/>
            <a:ext cx="365760" cy="3657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914400"/>
            <a:ext cx="196596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0" y="9875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₹1L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560320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Month 4–5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194560"/>
            <a:ext cx="0" cy="137160"/>
          </a:xfrm>
          <a:prstGeom prst="line">
            <a:avLst/>
          </a:prstGeom>
          <a:noFill/>
          <a:ln w="12700">
            <a:solidFill>
              <a:srgbClr val="34D3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743200"/>
            <a:ext cx="19659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33472" y="2816352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~28 retainer clients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Dharwad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Brief App 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120640" y="2331720"/>
            <a:ext cx="365760" cy="36576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914400"/>
            <a:ext cx="196596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9875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₹2L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63440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Month 7–8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194560"/>
            <a:ext cx="0" cy="137160"/>
          </a:xfrm>
          <a:prstGeom prst="line">
            <a:avLst/>
          </a:prstGeom>
          <a:noFill/>
          <a:ln w="127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743200"/>
            <a:ext cx="19659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36592" y="2816352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clients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trigger: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+ 2nd Telecaller + SMM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23760" y="2331720"/>
            <a:ext cx="365760" cy="36576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914400"/>
            <a:ext cx="1965960" cy="1280160"/>
          </a:xfrm>
          <a:prstGeom prst="rect">
            <a:avLst/>
          </a:prstGeom>
          <a:solidFill>
            <a:srgbClr val="1A2E4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766560" y="9875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₹5L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766560" y="15361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— 2 Years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06640" y="2194560"/>
            <a:ext cx="0" cy="137160"/>
          </a:xfrm>
          <a:prstGeom prst="line">
            <a:avLst/>
          </a:prstGeom>
          <a:noFill/>
          <a:ln w="12700">
            <a:solidFill>
              <a:srgbClr val="F472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2743200"/>
            <a:ext cx="196596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839712" y="2816352"/>
            <a:ext cx="1819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Karnataka cities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product live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65760" y="3794760"/>
            <a:ext cx="841248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858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Attack Order — Hubli Niches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206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Gyms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63,950/mo searches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874520" y="4206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Skin Clinics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874520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41,850/mo searches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291840" y="4206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Computer Training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291840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24,350/mo searches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09160" y="4206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Dental Clinics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09160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21,100/mo searches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126480" y="4206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Car Rentals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26480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16,450/mo searches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7543800" y="420624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JEE/NEET Coaching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43800" y="44165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12,300/mo searches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— Locked Forever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up for debate. They were decided, they hold.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149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Business 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12618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first. Accessible prices. Retainer focus. Upsell over time. Build portfolio → raise prices.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55648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105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Tech Stack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057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+ Tailwind v4 + Supabase + Hostinger + Antigravity. No changes. Ever.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51176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6060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Paid Ads Rule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28529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are LAST. Not before FMOS is live, Afifa is working, and landing pages are deployed.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346704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4015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Phase 1 Geography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" y="364845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Hubli-Dharwad only until all niches are called and campaigned. No premature expansion.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4142232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142232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19709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FMOS URL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" y="444398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fmos.fortunemarq.com — this never changes.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00600" y="960120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960120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10149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CRM Build Order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10328" y="12618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A → B → C → D → E → Deploy. The sequence is locked.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1755648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1755648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18105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Ad Spend Policy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10328" y="205740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own budget. FortuneMarq charges management fee only. Zero financial exposure.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00600" y="2551176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551176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6060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Team Workflow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10328" y="28529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FMOS for all work. WhatsApp for quick updates only. No spreadsheets, no exceptions.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800600" y="3346704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346704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40156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Invoice Policy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910328" y="3648456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1st, due 5th. 7 days late = ads paused. 30 days late = site offline. No credit.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00600" y="4142232"/>
            <a:ext cx="4206240" cy="713232"/>
          </a:xfrm>
          <a:prstGeom prst="rect">
            <a:avLst/>
          </a:prstGeom>
          <a:solidFill>
            <a:srgbClr val="1A2E4A"/>
          </a:solidFill>
          <a:ln w="12700">
            <a:solidFill>
              <a:srgbClr val="243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4142232"/>
            <a:ext cx="36576" cy="713232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419709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Sales Meetings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10328" y="4443984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Jabeer handles all meetings and deal closing. No exceptions.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1A2E4A">
              <a:alpha val="40000"/>
            </a:srgbClr>
          </a:solidFill>
          <a:ln w="12700">
            <a:solidFill>
              <a:srgbClr val="243855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 is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ready.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FMOS. Activate the team. Start the calls.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there. The scripts are there. The system is there.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0" y="3383280"/>
            <a:ext cx="3657600" cy="548640"/>
          </a:xfrm>
          <a:prstGeom prst="rect">
            <a:avLst/>
          </a:prstGeom>
          <a:solidFill>
            <a:srgbClr val="42CA80"/>
          </a:solidFill>
          <a:ln w="12700">
            <a:solidFill>
              <a:srgbClr val="42CA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383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Action: Complete FMOS Phase C 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42C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FortuneMarq Media &amp; Marketing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fortunemarq.com  •  fmos.fortunemarq.com  •  +91 93530 82656  •  fortunemarq@gmail.com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FortuneMarq Build Status Report — April 2026</dc:title>
  <dc:subject>PptxGenJS Presentation</dc:subject>
  <dc:creator>FortuneMarq Media &amp; Marketing</dc:creator>
  <cp:lastModifiedBy>FortuneMarq Media &amp; Marketing</cp:lastModifiedBy>
  <cp:revision>1</cp:revision>
  <dcterms:created xsi:type="dcterms:W3CDTF">2026-04-29T11:23:46Z</dcterms:created>
  <dcterms:modified xsi:type="dcterms:W3CDTF">2026-04-29T11:23:46Z</dcterms:modified>
</cp:coreProperties>
</file>